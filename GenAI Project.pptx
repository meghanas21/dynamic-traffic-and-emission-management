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6"/>
  </p:notesMasterIdLst>
  <p:sldIdLst>
    <p:sldId id="1300" r:id="rId5"/>
    <p:sldId id="1349" r:id="rId6"/>
    <p:sldId id="1291" r:id="rId7"/>
    <p:sldId id="1350" r:id="rId8"/>
    <p:sldId id="1351" r:id="rId9"/>
    <p:sldId id="1352" r:id="rId10"/>
    <p:sldId id="1353" r:id="rId11"/>
    <p:sldId id="1354" r:id="rId12"/>
    <p:sldId id="1355" r:id="rId13"/>
    <p:sldId id="1356" r:id="rId14"/>
    <p:sldId id="1250" r:id="rId15"/>
  </p:sldIdLst>
  <p:sldSz cx="12192000" cy="6858000"/>
  <p:notesSz cx="6858000" cy="9144000"/>
  <p:custDataLst>
    <p:tags r:id="rId1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F"/>
    <a:srgbClr val="F9FFEB"/>
    <a:srgbClr val="EDFFC5"/>
    <a:srgbClr val="7FBA00"/>
    <a:srgbClr val="EBEEF9"/>
    <a:srgbClr val="213164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5BF80-EB25-4FDD-98FF-C2F1FC49AA07}" v="8" dt="2025-11-18T08:38:54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2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nasnc@outlook.com" userId="2f1a747f38757312" providerId="LiveId" clId="{6AFCBB11-A5C0-482E-81F6-C808476A16DC}"/>
    <pc:docChg chg="undo custSel modSld">
      <pc:chgData name="meghanasnc@outlook.com" userId="2f1a747f38757312" providerId="LiveId" clId="{6AFCBB11-A5C0-482E-81F6-C808476A16DC}" dt="2025-11-18T08:55:09.875" v="39" actId="20577"/>
      <pc:docMkLst>
        <pc:docMk/>
      </pc:docMkLst>
      <pc:sldChg chg="modSp mod">
        <pc:chgData name="meghanasnc@outlook.com" userId="2f1a747f38757312" providerId="LiveId" clId="{6AFCBB11-A5C0-482E-81F6-C808476A16DC}" dt="2025-11-18T08:41:23.727" v="16" actId="20577"/>
        <pc:sldMkLst>
          <pc:docMk/>
          <pc:sldMk cId="2000950779" sldId="1300"/>
        </pc:sldMkLst>
        <pc:spChg chg="mod">
          <ac:chgData name="meghanasnc@outlook.com" userId="2f1a747f38757312" providerId="LiveId" clId="{6AFCBB11-A5C0-482E-81F6-C808476A16DC}" dt="2025-11-18T08:41:23.727" v="16" actId="20577"/>
          <ac:spMkLst>
            <pc:docMk/>
            <pc:sldMk cId="2000950779" sldId="1300"/>
            <ac:spMk id="2" creationId="{7BC3452E-282B-E1CE-1049-3451E4122F16}"/>
          </ac:spMkLst>
        </pc:spChg>
      </pc:sldChg>
      <pc:sldChg chg="modSp mod">
        <pc:chgData name="meghanasnc@outlook.com" userId="2f1a747f38757312" providerId="LiveId" clId="{6AFCBB11-A5C0-482E-81F6-C808476A16DC}" dt="2025-11-18T08:55:00.022" v="25" actId="14100"/>
        <pc:sldMkLst>
          <pc:docMk/>
          <pc:sldMk cId="4151153574" sldId="1354"/>
        </pc:sldMkLst>
        <pc:spChg chg="mod">
          <ac:chgData name="meghanasnc@outlook.com" userId="2f1a747f38757312" providerId="LiveId" clId="{6AFCBB11-A5C0-482E-81F6-C808476A16DC}" dt="2025-11-18T08:54:36.439" v="23" actId="14100"/>
          <ac:spMkLst>
            <pc:docMk/>
            <pc:sldMk cId="4151153574" sldId="1354"/>
            <ac:spMk id="2" creationId="{565B80B1-3B59-EA2F-68D8-475020EC920F}"/>
          </ac:spMkLst>
        </pc:spChg>
        <pc:picChg chg="mod">
          <ac:chgData name="meghanasnc@outlook.com" userId="2f1a747f38757312" providerId="LiveId" clId="{6AFCBB11-A5C0-482E-81F6-C808476A16DC}" dt="2025-11-18T08:55:00.022" v="25" actId="14100"/>
          <ac:picMkLst>
            <pc:docMk/>
            <pc:sldMk cId="4151153574" sldId="1354"/>
            <ac:picMk id="8" creationId="{F7879B95-8686-3E5B-16F0-BA1CC1D08816}"/>
          </ac:picMkLst>
        </pc:picChg>
      </pc:sldChg>
      <pc:sldChg chg="modSp mod">
        <pc:chgData name="meghanasnc@outlook.com" userId="2f1a747f38757312" providerId="LiveId" clId="{6AFCBB11-A5C0-482E-81F6-C808476A16DC}" dt="2025-11-18T08:55:09.875" v="39" actId="20577"/>
        <pc:sldMkLst>
          <pc:docMk/>
          <pc:sldMk cId="154726197" sldId="1355"/>
        </pc:sldMkLst>
        <pc:spChg chg="mod">
          <ac:chgData name="meghanasnc@outlook.com" userId="2f1a747f38757312" providerId="LiveId" clId="{6AFCBB11-A5C0-482E-81F6-C808476A16DC}" dt="2025-11-18T08:55:09.875" v="39" actId="20577"/>
          <ac:spMkLst>
            <pc:docMk/>
            <pc:sldMk cId="154726197" sldId="1355"/>
            <ac:spMk id="2" creationId="{0E7B0A38-E51F-FAB3-43A3-E6F66F53FE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Let's delve deeper into the exciting world of sustainability and AI.</a:t>
            </a:r>
            <a:endParaRPr lang="en-US"/>
          </a:p>
          <a:p>
            <a:r>
              <a:rPr lang="en-US"/>
              <a:t>In this chapter, we'll explore how artificial intelligence can be a powerful tool for addressing environmental challenges and promoting sustainable practices. We'll discuss specific applications of AI in various sectors and analyze its potential to drive positive change.</a:t>
            </a:r>
          </a:p>
          <a:p>
            <a:r>
              <a:rPr lang="en-US" b="1"/>
              <a:t>Get ready to discover the innovative ways AI is contributing to a more sustainable future!</a:t>
            </a:r>
            <a:endParaRPr lang="en-US"/>
          </a:p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9783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D97FCEE-C2A8-37D5-A996-49BB545B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975B8980-94AA-8A6F-430D-0494B7C17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Let's outline what you'll learn in this presentation.</a:t>
            </a:r>
            <a:endParaRPr lang="en-US"/>
          </a:p>
          <a:p>
            <a:r>
              <a:rPr lang="en-US"/>
              <a:t>By the end, you'll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Understand how AI helps solve problems like climate change, resource depletion, and biodiversity loss.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Identify key AI uses in energy efficiency, waste management, and climate 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Analyze AI's role in sustainable agriculture and cities.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Evaluate AI's use in environmental monitoring using satellites, real-time data, and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Apply AI strategies in logistics and transportation to make them more sustainable.</a:t>
            </a:r>
          </a:p>
          <a:p>
            <a:r>
              <a:rPr lang="en-US" b="1"/>
              <a:t>Get ready to discover how AI can help create a greener future!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A7D6731-161F-2215-BDD4-38D7B762C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4211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B634D27-F068-EBEB-8770-15B1970F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EC7E5E5-08B1-E327-1392-BDBF84524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962BD9A5-ADCC-1A80-1BEB-CABC569E0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7319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C7FEBF0-06E5-C2B8-032E-BD1140EC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1C6BB7A9-64CC-4552-CA05-10714EF8D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96E12A9-0FB9-1C33-EAD4-8BC34D67D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0100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912BB92-19C5-FEAF-8CF0-0A26FF15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D21BCEAF-EE14-3457-B94E-B4E055AD9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E33C037B-43A5-DBE4-60BB-7D8372DCD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613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05ABAFC-C9BD-AB1E-8A8A-9EDC5568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CC989CB-9A3F-2F71-382B-9645325FE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1EAE55A1-FB6B-6141-FCEA-50C1C0732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7441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4F84F44-6F11-41C0-2531-B2D84004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CFFEF418-B406-D0A7-8310-136EE4643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7A9698E-E051-C03D-505A-30B549F0D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060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2949AFF-78D6-50DA-B607-940763F2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7361DAE3-574F-2869-A475-53A418F0F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598F59E-E26E-B08C-63A5-3796B2189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4077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839BF32-23F1-0514-1672-5AE4AB5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EF06C08A-200A-0E8C-55D0-5D4BC07B5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29C00B7-3928-D803-DCB2-F342254D8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3277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8C18A-94E2-AE13-8B06-BA9F6BD6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8089E-5BFA-40F0-B876-ADFE03496B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892B4-0FB0-425D-7C43-06BB328A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29878-4D45-882F-621F-195E0CE4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122C-94FD-45B7-812A-8C690DBDD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53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8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51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19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42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8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2540B31-8123-24C6-B0F3-4444B51E9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9AA95F-56F4-3F03-5804-8F7C6AFCE0BB}"/>
              </a:ext>
            </a:extLst>
          </p:cNvPr>
          <p:cNvSpPr/>
          <p:nvPr/>
        </p:nvSpPr>
        <p:spPr>
          <a:xfrm>
            <a:off x="8687544" y="584200"/>
            <a:ext cx="211044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5316D-1E70-9E4D-C82D-DC6493EC4CED}"/>
              </a:ext>
            </a:extLst>
          </p:cNvPr>
          <p:cNvSpPr txBox="1"/>
          <p:nvPr/>
        </p:nvSpPr>
        <p:spPr>
          <a:xfrm>
            <a:off x="4093474" y="2008766"/>
            <a:ext cx="728011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Dynamic Traffic and Emission Management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2A27540A-9E08-71C9-C49B-6AA04DE6EB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943" y="867733"/>
            <a:ext cx="1263157" cy="4108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C3452E-282B-E1CE-1049-3451E4122F16}"/>
              </a:ext>
            </a:extLst>
          </p:cNvPr>
          <p:cNvSpPr txBox="1"/>
          <p:nvPr/>
        </p:nvSpPr>
        <p:spPr>
          <a:xfrm>
            <a:off x="4760259" y="3494967"/>
            <a:ext cx="6347011" cy="18162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Meghana S</a:t>
            </a:r>
          </a:p>
          <a:p>
            <a:r>
              <a:rPr lang="en-IN" dirty="0">
                <a:solidFill>
                  <a:schemeClr val="bg1"/>
                </a:solidFill>
              </a:rPr>
              <a:t>Meghana M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Mentor: Sanjay S C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ACS </a:t>
            </a:r>
            <a:r>
              <a:rPr lang="en-IN" dirty="0">
                <a:solidFill>
                  <a:schemeClr val="bg1"/>
                </a:solidFill>
              </a:rPr>
              <a:t>College Of Engineering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95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82100C0-8C1F-4181-DD75-D87774F4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DF1CE7-F465-D81C-97B0-79E3F2480924}"/>
              </a:ext>
            </a:extLst>
          </p:cNvPr>
          <p:cNvCxnSpPr/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583006E0-F63C-4BA4-389D-C91A4075610B}"/>
              </a:ext>
            </a:extLst>
          </p:cNvPr>
          <p:cNvSpPr txBox="1">
            <a:spLocks noGrp="1"/>
          </p:cNvSpPr>
          <p:nvPr/>
        </p:nvSpPr>
        <p:spPr>
          <a:xfrm>
            <a:off x="407838" y="1028599"/>
            <a:ext cx="5025142" cy="6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 b="1" dirty="0">
                <a:solidFill>
                  <a:srgbClr val="213163"/>
                </a:solidFill>
              </a:rPr>
              <a:t>Project Objectives</a:t>
            </a:r>
            <a:endParaRPr lang="en-US" sz="2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668EA-F609-4C8E-7E33-C8D4F3A3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65" y="1124611"/>
            <a:ext cx="4602826" cy="4613712"/>
          </a:xfrm>
          <a:prstGeom prst="rect">
            <a:avLst/>
          </a:prstGeom>
        </p:spPr>
      </p:pic>
      <p:sp>
        <p:nvSpPr>
          <p:cNvPr id="8" name="Google Shape;62;g5fab984687_2_0">
            <a:extLst>
              <a:ext uri="{FF2B5EF4-FFF2-40B4-BE49-F238E27FC236}">
                <a16:creationId xmlns:a16="http://schemas.microsoft.com/office/drawing/2014/main" id="{761FE11B-F08F-EA24-6ECA-6D0A1BF1E903}"/>
              </a:ext>
            </a:extLst>
          </p:cNvPr>
          <p:cNvSpPr txBox="1"/>
          <p:nvPr/>
        </p:nvSpPr>
        <p:spPr>
          <a:xfrm>
            <a:off x="407838" y="1715981"/>
            <a:ext cx="5369163" cy="318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Problem Statement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Project Overview – Introduction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End Users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Wow Factor in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Modelling/Block Diagram/Flow of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Result/outcomes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Conclusion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Future Perspective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266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1528915" y="1532974"/>
            <a:ext cx="9134169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Problem Statement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pPr algn="just"/>
            <a:r>
              <a:rPr lang="en-US" sz="1800" dirty="0">
                <a:solidFill>
                  <a:srgbClr val="213163"/>
                </a:solidFill>
              </a:rPr>
              <a:t>Indian metropolitan cities like Bengaluru face severe traffic congestion and rising air pollution due to non-adaptive traffic control systems. Static signals and manual traffic management lead to inefficient vehicle movement and high emission levels.</a:t>
            </a:r>
          </a:p>
          <a:p>
            <a:pPr algn="just"/>
            <a:endParaRPr lang="en-US" sz="1800" dirty="0">
              <a:solidFill>
                <a:srgbClr val="213163"/>
              </a:solidFill>
            </a:endParaRPr>
          </a:p>
          <a:p>
            <a:pPr algn="just"/>
            <a:endParaRPr lang="en-US" sz="1800" dirty="0">
              <a:solidFill>
                <a:srgbClr val="213163"/>
              </a:solidFill>
            </a:endParaRPr>
          </a:p>
          <a:p>
            <a:pPr algn="just"/>
            <a:r>
              <a:rPr lang="en-US" sz="1800" dirty="0">
                <a:solidFill>
                  <a:srgbClr val="213163"/>
                </a:solidFill>
              </a:rPr>
              <a:t>The lack of intelligent systems that can analyze real-time traffic and pollution data creates a pressing need </a:t>
            </a:r>
            <a:r>
              <a:rPr lang="en-US" sz="1800" b="1" dirty="0">
                <a:solidFill>
                  <a:srgbClr val="213163"/>
                </a:solidFill>
              </a:rPr>
              <a:t>for AI-based dynamic traffic and emission management solutions tailored for smart city infrastructure.</a:t>
            </a:r>
          </a:p>
          <a:p>
            <a:pPr algn="just"/>
            <a:endParaRPr lang="en-US" sz="1800" b="1" dirty="0">
              <a:solidFill>
                <a:srgbClr val="213163"/>
              </a:solidFill>
            </a:endParaRPr>
          </a:p>
          <a:p>
            <a:pPr algn="just"/>
            <a:endParaRPr lang="en-US" sz="1800" b="1" dirty="0">
              <a:solidFill>
                <a:srgbClr val="213163"/>
              </a:solidFill>
            </a:endParaRPr>
          </a:p>
          <a:p>
            <a:pPr algn="just"/>
            <a:endParaRPr lang="en-US" sz="1800" b="1" dirty="0">
              <a:solidFill>
                <a:srgbClr val="213163"/>
              </a:solidFill>
            </a:endParaRPr>
          </a:p>
          <a:p>
            <a:pPr algn="just"/>
            <a:endParaRPr lang="en-US" sz="1800" b="1" dirty="0">
              <a:solidFill>
                <a:srgbClr val="213163"/>
              </a:solidFill>
            </a:endParaRPr>
          </a:p>
          <a:p>
            <a:pPr algn="just"/>
            <a:endParaRPr lang="en-US" sz="1800" b="1" dirty="0">
              <a:solidFill>
                <a:srgbClr val="213163"/>
              </a:solidFill>
            </a:endParaRPr>
          </a:p>
          <a:p>
            <a:pPr algn="just"/>
            <a:endParaRPr lang="en-US" sz="1800" b="1" dirty="0">
              <a:solidFill>
                <a:srgbClr val="213163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5C893-2FDF-21FF-3B51-777D91501B7C}"/>
              </a:ext>
            </a:extLst>
          </p:cNvPr>
          <p:cNvCxnSpPr/>
          <p:nvPr/>
        </p:nvCxnSpPr>
        <p:spPr>
          <a:xfrm>
            <a:off x="157316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CFA96E3-C7EB-55DF-2AA8-2936B30A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EBBBA-5CF4-5202-786C-054FC76F51FF}"/>
              </a:ext>
            </a:extLst>
          </p:cNvPr>
          <p:cNvSpPr txBox="1"/>
          <p:nvPr/>
        </p:nvSpPr>
        <p:spPr>
          <a:xfrm>
            <a:off x="1170039" y="1305341"/>
            <a:ext cx="9851922" cy="53783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Project Overview – Introduction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US" sz="1850" dirty="0"/>
          </a:p>
          <a:p>
            <a:pPr algn="just"/>
            <a:r>
              <a:rPr lang="en-US" sz="1850" dirty="0"/>
              <a:t>This project aims to develop an intelligent system that </a:t>
            </a:r>
            <a:r>
              <a:rPr lang="en-US" sz="1850" b="1" dirty="0"/>
              <a:t>monitors and controls urban traffic flow in real time while minimizing vehicle emissions</a:t>
            </a:r>
            <a:r>
              <a:rPr lang="en-US" sz="1850" dirty="0"/>
              <a:t>. Using AI, computer vision, and IoT sensors, the system detects traffic density and air quality to dynamically adjust signal timings. </a:t>
            </a:r>
          </a:p>
          <a:p>
            <a:pPr algn="just"/>
            <a:endParaRPr lang="en-US" sz="1850" dirty="0"/>
          </a:p>
          <a:p>
            <a:pPr algn="just"/>
            <a:r>
              <a:rPr lang="en-US" sz="1850" dirty="0"/>
              <a:t>Rapid urban growth has led to severe traffic congestion and increased air pollution in cities. Traditional traffic signals </a:t>
            </a:r>
            <a:r>
              <a:rPr lang="en-US" sz="1850" b="1" dirty="0"/>
              <a:t>operate on fixed timings, failing to adapt to real-time traffic variations</a:t>
            </a:r>
            <a:r>
              <a:rPr lang="en-US" sz="1850" dirty="0"/>
              <a:t>. This project introduces an AI-based dynamic traffic management system that </a:t>
            </a:r>
            <a:r>
              <a:rPr lang="en-US" sz="1850" b="1" dirty="0"/>
              <a:t>analyzes live traffic and emission data to optimize signal operations.</a:t>
            </a:r>
            <a:r>
              <a:rPr lang="en-US" sz="1850" dirty="0"/>
              <a:t> By integrating machine learning and sensor technologies, the system ensures </a:t>
            </a:r>
            <a:r>
              <a:rPr lang="en-US" sz="1850" b="1" dirty="0"/>
              <a:t>smoother traffic flow, reduced fuel wastage, and lower emission levels, supporting smart city development.</a:t>
            </a:r>
          </a:p>
          <a:p>
            <a:pPr algn="just"/>
            <a:endParaRPr lang="en-US" sz="1850" b="1" dirty="0"/>
          </a:p>
          <a:p>
            <a:pPr algn="just"/>
            <a:endParaRPr lang="en-US" sz="1850" b="1" dirty="0"/>
          </a:p>
          <a:p>
            <a:pPr algn="just"/>
            <a:endParaRPr lang="en-US" sz="1850" b="1" dirty="0"/>
          </a:p>
          <a:p>
            <a:pPr algn="just"/>
            <a:r>
              <a:rPr lang="en-US" sz="1850" b="1" dirty="0"/>
              <a:t> </a:t>
            </a:r>
          </a:p>
          <a:p>
            <a:pPr algn="just"/>
            <a:endParaRPr lang="en-US" sz="185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D36B33-2DAC-4F13-4E60-E206B01FE04F}"/>
              </a:ext>
            </a:extLst>
          </p:cNvPr>
          <p:cNvCxnSpPr/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2ED5FB8-425A-4665-42F5-5CC706CC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B8291-8A2E-40AC-9C88-A70F47D7B60C}"/>
              </a:ext>
            </a:extLst>
          </p:cNvPr>
          <p:cNvSpPr txBox="1"/>
          <p:nvPr/>
        </p:nvSpPr>
        <p:spPr>
          <a:xfrm>
            <a:off x="550607" y="1129854"/>
            <a:ext cx="10137058" cy="5448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End Users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Traffic Management Authorities</a:t>
            </a:r>
            <a:r>
              <a:rPr lang="en-US" dirty="0"/>
              <a:t>→ Use the system to monitor congestion and control signals dynamically.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Municipal &amp; Smart City Departments</a:t>
            </a:r>
            <a:r>
              <a:rPr lang="en-US" dirty="0"/>
              <a:t>→ Integrate the solution for efficient city-wide traffic and emission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Environmental Agencies</a:t>
            </a:r>
            <a:r>
              <a:rPr lang="en-US" dirty="0"/>
              <a:t>→ Track real-time pollution data and identify emission hotspots.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Daily Commuters &amp; Public Transport Operators</a:t>
            </a:r>
            <a:r>
              <a:rPr lang="en-US" dirty="0"/>
              <a:t>→ Benefit from reduced travel time and improved air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                </a:t>
            </a:r>
            <a:r>
              <a:rPr lang="en-US" dirty="0">
                <a:latin typeface="Bradley Hand ITC" panose="03070402050302030203" pitchFamily="66" charset="0"/>
              </a:rPr>
              <a:t>“Empowering cities and citizens through intelligent, eco-friendly traffic control.”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FCDAF6-8CC4-501B-E7B6-453DC4924D09}"/>
              </a:ext>
            </a:extLst>
          </p:cNvPr>
          <p:cNvCxnSpPr/>
          <p:nvPr/>
        </p:nvCxnSpPr>
        <p:spPr>
          <a:xfrm>
            <a:off x="117988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34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3201705-0A2B-4BCF-297B-D9722E1C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5BFC9B-AE6E-0231-F153-9FA6A53336DE}"/>
              </a:ext>
            </a:extLst>
          </p:cNvPr>
          <p:cNvSpPr txBox="1"/>
          <p:nvPr/>
        </p:nvSpPr>
        <p:spPr>
          <a:xfrm>
            <a:off x="1071716" y="1157871"/>
            <a:ext cx="10186219" cy="49859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Wow Factors in Project</a:t>
            </a:r>
          </a:p>
          <a:p>
            <a:endParaRPr lang="en-IN" sz="2800" b="1" dirty="0">
              <a:solidFill>
                <a:srgbClr val="213163"/>
              </a:solidFill>
            </a:endParaRPr>
          </a:p>
          <a:p>
            <a:pPr algn="just"/>
            <a:r>
              <a:rPr lang="en-US" sz="1800" b="1" dirty="0"/>
              <a:t>⚙️AI That Thinks in Real-Time</a:t>
            </a:r>
            <a:r>
              <a:rPr lang="en-US" sz="1800" dirty="0"/>
              <a:t>→ The system learns traffic behavior and autonomously adjusts signal timings like a human officer.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🌫 Dual Optimization – Traffic + Emissions</a:t>
            </a:r>
            <a:r>
              <a:rPr lang="en-US" sz="1800" dirty="0"/>
              <a:t>→ Simultaneously reduces congestion and CO₂ output for eco-smart mobility.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🔮Predictive Intelligence</a:t>
            </a:r>
            <a:r>
              <a:rPr lang="en-US" sz="1800" dirty="0"/>
              <a:t>→ Anticipates traffic build-ups before they occur using machine learning insights.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📊Smart City Integration</a:t>
            </a:r>
            <a:r>
              <a:rPr lang="en-US" sz="1800" dirty="0"/>
              <a:t>→ Cloud dashboard enables city officials to monitor live traffic and emission data anytime, anywhere.</a:t>
            </a:r>
          </a:p>
          <a:p>
            <a:pPr algn="just"/>
            <a:endParaRPr lang="en-US" sz="1800" b="1" dirty="0"/>
          </a:p>
          <a:p>
            <a:pPr algn="just"/>
            <a:r>
              <a:rPr lang="en-US" sz="1800" b="1" dirty="0"/>
              <a:t>🤖Scalable &amp; Self-Learning</a:t>
            </a:r>
            <a:r>
              <a:rPr lang="en-US" sz="1800" dirty="0"/>
              <a:t>→ Capable of expanding across multiple junctions and improving performance over time</a:t>
            </a:r>
            <a:r>
              <a:rPr lang="en-US" sz="2800" dirty="0"/>
              <a:t>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30159-1BB7-8E93-3ABC-73786A089387}"/>
              </a:ext>
            </a:extLst>
          </p:cNvPr>
          <p:cNvCxnSpPr>
            <a:cxnSpLocks/>
          </p:cNvCxnSpPr>
          <p:nvPr/>
        </p:nvCxnSpPr>
        <p:spPr>
          <a:xfrm flipV="1">
            <a:off x="806245" y="6858000"/>
            <a:ext cx="11385755" cy="614516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32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DA83078-77BF-8732-F35D-B5E0418E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3A1D2-BA94-C28C-CC33-20F2A8CBF8E6}"/>
              </a:ext>
            </a:extLst>
          </p:cNvPr>
          <p:cNvSpPr txBox="1"/>
          <p:nvPr/>
        </p:nvSpPr>
        <p:spPr>
          <a:xfrm>
            <a:off x="2281083" y="982369"/>
            <a:ext cx="8268929" cy="1241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Modelling/Block Diagram/Flow of Project</a:t>
            </a:r>
          </a:p>
          <a:p>
            <a:endParaRPr lang="en-IN" sz="2800" b="1" dirty="0">
              <a:solidFill>
                <a:srgbClr val="213163"/>
              </a:solidFill>
            </a:endParaRPr>
          </a:p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DAE0B2-C9ED-491C-8F68-0E6205CBB90D}"/>
              </a:ext>
            </a:extLst>
          </p:cNvPr>
          <p:cNvCxnSpPr/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605B89F-DAC1-CEFC-7C0C-E310E4203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614" y="1730477"/>
            <a:ext cx="7486772" cy="446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1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514D052-F397-BC36-1052-36D19CF5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5B80B1-3B59-EA2F-68D8-475020EC920F}"/>
              </a:ext>
            </a:extLst>
          </p:cNvPr>
          <p:cNvSpPr txBox="1"/>
          <p:nvPr/>
        </p:nvSpPr>
        <p:spPr>
          <a:xfrm>
            <a:off x="202071" y="972537"/>
            <a:ext cx="1178345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Result/Outcomes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83DCBC-7A8C-07A8-ECE3-2959C5777DBD}"/>
              </a:ext>
            </a:extLst>
          </p:cNvPr>
          <p:cNvCxnSpPr/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7879B95-8686-3E5B-16F0-BA1CC1D08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8" y="1372646"/>
            <a:ext cx="6066503" cy="48904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0F5759-4B5A-079D-BD8F-27D5C2EAC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348" y="1677318"/>
            <a:ext cx="4461908" cy="1543603"/>
          </a:xfrm>
          <a:prstGeom prst="rect">
            <a:avLst/>
          </a:prstGeom>
        </p:spPr>
      </p:pic>
      <p:pic>
        <p:nvPicPr>
          <p:cNvPr id="17" name="Picture 16" descr="A graph of a graph&#10;&#10;AI-generated content may be incorrect.">
            <a:extLst>
              <a:ext uri="{FF2B5EF4-FFF2-40B4-BE49-F238E27FC236}">
                <a16:creationId xmlns:a16="http://schemas.microsoft.com/office/drawing/2014/main" id="{5AEB3BE6-2537-D81A-B263-CF981EFD2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348" y="3962399"/>
            <a:ext cx="4995808" cy="223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53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2F31CEF-5515-4F5D-1100-281FEB2D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B0A38-E51F-FAB3-43A3-E6F66F53FEEB}"/>
              </a:ext>
            </a:extLst>
          </p:cNvPr>
          <p:cNvSpPr txBox="1"/>
          <p:nvPr/>
        </p:nvSpPr>
        <p:spPr>
          <a:xfrm>
            <a:off x="1356851" y="1375659"/>
            <a:ext cx="9478298" cy="45661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Conclusion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r>
              <a:rPr lang="en-US" dirty="0"/>
              <a:t>“Our project bridges intelligence and sustainability — transforming ordinary traffic systems into self-learning, eco-conscious networks.”</a:t>
            </a:r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dirty="0"/>
              <a:t>The proposed AI-driven framework enables </a:t>
            </a:r>
            <a:r>
              <a:rPr lang="en-US" b="1" dirty="0"/>
              <a:t>adaptive, data-centric traffic regulation </a:t>
            </a:r>
            <a:r>
              <a:rPr lang="en-US" dirty="0"/>
              <a:t>through real-time analytics. By correlating traffic density with emission metrics, the system achieves </a:t>
            </a:r>
            <a:r>
              <a:rPr lang="en-US" b="1" dirty="0"/>
              <a:t>dual optimization of flow and environmental impact</a:t>
            </a:r>
            <a:r>
              <a:rPr lang="en-US" dirty="0"/>
              <a:t>. Intelligent automation </a:t>
            </a:r>
            <a:r>
              <a:rPr lang="en-US" b="1" dirty="0"/>
              <a:t>minimizes human intervention </a:t>
            </a:r>
            <a:r>
              <a:rPr lang="en-US" dirty="0"/>
              <a:t>while ensuring efficient, sustainable urban mobility. he project establishes a scalable foundation for next-generation smart city traffic ecosystems.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/>
              <a:t>Code link: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5A772F-AA2F-0824-304C-1925559E5831}"/>
              </a:ext>
            </a:extLst>
          </p:cNvPr>
          <p:cNvCxnSpPr/>
          <p:nvPr/>
        </p:nvCxnSpPr>
        <p:spPr>
          <a:xfrm>
            <a:off x="176981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26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D19869F-96B9-5203-AAF3-45AE6C4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D9D66-F842-8A54-E13C-54231FFCB3A9}"/>
              </a:ext>
            </a:extLst>
          </p:cNvPr>
          <p:cNvSpPr txBox="1"/>
          <p:nvPr/>
        </p:nvSpPr>
        <p:spPr>
          <a:xfrm>
            <a:off x="1032387" y="972537"/>
            <a:ext cx="10009239" cy="44430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Future Perspective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pPr marL="457200" indent="-457200">
              <a:buAutoNum type="arabicPeriod"/>
            </a:pPr>
            <a:r>
              <a:rPr lang="en-US" b="1" dirty="0"/>
              <a:t>Integration with Vehicle-to-Infrastructure (V2I) Networks</a:t>
            </a:r>
            <a:r>
              <a:rPr lang="en-US" dirty="0"/>
              <a:t>→ Enable direct communication between vehicles and traffic signals for predictive coordination and near-zero waiting time.</a:t>
            </a:r>
          </a:p>
          <a:p>
            <a:pPr marL="457200" indent="-457200">
              <a:buAutoNum type="arabicPeriod"/>
            </a:pPr>
            <a:r>
              <a:rPr lang="en-US" b="1" dirty="0"/>
              <a:t>AI-Driven Emission Forecasting Model</a:t>
            </a:r>
            <a:r>
              <a:rPr lang="en-US" dirty="0"/>
              <a:t>→ Extend the system to forecast city-wide emission trends using deep learning and meteorological data.</a:t>
            </a:r>
          </a:p>
          <a:p>
            <a:pPr marL="457200" indent="-457200">
              <a:buAutoNum type="arabicPeriod"/>
            </a:pPr>
            <a:r>
              <a:rPr lang="en-US" b="1" dirty="0"/>
              <a:t>Autonomous Traffic Ecosystem</a:t>
            </a:r>
            <a:r>
              <a:rPr lang="en-US" dirty="0"/>
              <a:t>→ Connect multiple intersections through a cooperative AI network that self-learns and synchronizes signals across the city grid.</a:t>
            </a:r>
          </a:p>
          <a:p>
            <a:pPr marL="457200" indent="-457200">
              <a:buAutoNum type="arabicPeriod"/>
            </a:pPr>
            <a:r>
              <a:rPr lang="en-US" b="1" dirty="0"/>
              <a:t>Incorporation of Electric &amp; Priority Vehicles</a:t>
            </a:r>
            <a:r>
              <a:rPr lang="en-US" dirty="0"/>
              <a:t>→ Introduce intelligent lane/signal prioritization for emergency, electric, and public transport vehicles.</a:t>
            </a:r>
          </a:p>
          <a:p>
            <a:pPr marL="457200" indent="-457200">
              <a:buAutoNum type="arabicPeriod"/>
            </a:pPr>
            <a:r>
              <a:rPr lang="en-US" b="1" dirty="0"/>
              <a:t>Edge–Cloud Hybrid Deployment</a:t>
            </a:r>
            <a:r>
              <a:rPr lang="en-US" dirty="0"/>
              <a:t>→ Deploy lightweight AI agents at intersections (edge) for instant decisions, supported by cloud servers for large-scale analytics.</a:t>
            </a:r>
          </a:p>
          <a:p>
            <a:pPr marL="457200" indent="-457200">
              <a:buAutoNum type="arabicPeriod"/>
            </a:pPr>
            <a:r>
              <a:rPr lang="en-US" b="1" dirty="0"/>
              <a:t>Policy &amp; Citizen Integration</a:t>
            </a:r>
            <a:r>
              <a:rPr lang="en-US" dirty="0"/>
              <a:t>→ Share real-time congestion and emission alerts with commuters through mobile apps to encourage eco-friendly route choices.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75EF88-7E4D-D10C-498C-A7D20A3B78E2}"/>
              </a:ext>
            </a:extLst>
          </p:cNvPr>
          <p:cNvCxnSpPr/>
          <p:nvPr/>
        </p:nvCxnSpPr>
        <p:spPr>
          <a:xfrm>
            <a:off x="0" y="6856689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288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1858298" y="2792362"/>
            <a:ext cx="9094838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 dirty="0">
                <a:solidFill>
                  <a:srgbClr val="213163"/>
                </a:solidFill>
              </a:rPr>
              <a:t>               Thank You</a:t>
            </a:r>
          </a:p>
          <a:p>
            <a:pPr algn="just">
              <a:buSzPts val="2800"/>
            </a:pPr>
            <a:endParaRPr lang="en-US" sz="5000" b="1" dirty="0">
              <a:solidFill>
                <a:srgbClr val="213163"/>
              </a:solidFill>
              <a:ea typeface="Calibri" panose="020F0502020204030204" pitchFamily="34" charset="0"/>
            </a:endParaRPr>
          </a:p>
          <a:p>
            <a:pPr algn="just">
              <a:buSzPts val="2800"/>
            </a:pPr>
            <a:r>
              <a:rPr lang="en-US" sz="1800" b="1" dirty="0">
                <a:latin typeface="Segoe Script" panose="030B0504020000000003" pitchFamily="66" charset="0"/>
                <a:ea typeface="Calibri" panose="020F0502020204030204" pitchFamily="34" charset="0"/>
                <a:cs typeface="Calibri" panose="020F0502020204030204" pitchFamily="34" charset="0"/>
              </a:rPr>
              <a:t>“Bridging intelligence and sustainability — transforming ordinary       systems into self-learning, eco-conscious networks!!”</a:t>
            </a:r>
          </a:p>
          <a:p>
            <a:pPr>
              <a:buSzPts val="2800"/>
            </a:pPr>
            <a:r>
              <a:rPr lang="en-US" sz="5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1671</Words>
  <Application>Microsoft Office PowerPoint</Application>
  <PresentationFormat>Widescreen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Bradley Hand ITC</vt:lpstr>
      <vt:lpstr>Calibri</vt:lpstr>
      <vt:lpstr>Segoe Script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meghanasnc@outlook.com</cp:lastModifiedBy>
  <cp:revision>3</cp:revision>
  <dcterms:modified xsi:type="dcterms:W3CDTF">2025-11-18T08:55:11Z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9933309E-0FFA-4A0C-99DC-6F95618B9D68</vt:lpwstr>
  </property>
  <property fmtid="{D5CDD505-2E9C-101B-9397-08002B2CF9AE}" pid="4" name="ArticulatePath">
    <vt:lpwstr>https://edunetfoundationorg-my.sharepoint.com/personal/kaisar_edunetfoundation_org/Documents/Beutified ppt/Microsoft Shell/Skills4Future/Temp</vt:lpwstr>
  </property>
</Properties>
</file>